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73152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SecureHall-RAG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2591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700" b="0" i="0">
                <a:solidFill>
                  <a:srgbClr val="BBCCEE"/>
                </a:solidFill>
                <a:latin typeface="Calibri"/>
              </a:rPr>
              <a:t>A Trustworthy Retrieval-Augmented Generation System for Enterprise
Document Question-Answering with Hallucination Prevention,
Prompt Injection Defense, and Uncertainty Quantification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91840"/>
            <a:ext cx="2743200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338328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B325C"/>
                </a:solidFill>
                <a:latin typeface="Calibri"/>
              </a:rPr>
              <a:t>Presented By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49040"/>
            <a:ext cx="237744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822192"/>
            <a:ext cx="2743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3D4A63"/>
                </a:solidFill>
                <a:latin typeface="Calibri"/>
              </a:rPr>
              <a:t>Devendra
MCA Final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3291840"/>
            <a:ext cx="2743200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338328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B325C"/>
                </a:solidFill>
                <a:latin typeface="Calibri"/>
              </a:rPr>
              <a:t>Supervisor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3749040"/>
            <a:ext cx="237744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3822192"/>
            <a:ext cx="2743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3D4A63"/>
                </a:solidFill>
                <a:latin typeface="Calibri"/>
              </a:rPr>
              <a:t>[Supervisor Name]
[Designation]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5624" y="3291840"/>
            <a:ext cx="2743200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338328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B325C"/>
                </a:solidFill>
                <a:latin typeface="Calibri"/>
              </a:rPr>
              <a:t>Department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504" y="3749040"/>
            <a:ext cx="237744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3822192"/>
            <a:ext cx="2743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3D4A63"/>
                </a:solidFill>
                <a:latin typeface="Calibri"/>
              </a:rPr>
              <a:t>Computer Science
[University Name]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3416" y="3291840"/>
            <a:ext cx="2743200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3383280"/>
            <a:ext cx="2743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B325C"/>
                </a:solidFill>
                <a:latin typeface="Calibri"/>
              </a:rPr>
              <a:t>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26296" y="3749040"/>
            <a:ext cx="237744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3822192"/>
            <a:ext cx="274320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3D4A63"/>
                </a:solidFill>
                <a:latin typeface="Calibri"/>
              </a:rPr>
              <a:t>2025 – 2026
July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4800600"/>
            <a:ext cx="12188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727F9A"/>
                </a:solidFill>
                <a:latin typeface="Calibri"/>
              </a:rPr>
              <a:t>MCA Major Project Thesis  ·  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97280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40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Background, motivation &amp; problem statement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005840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07608" y="1005840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7608" y="1005840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097280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Research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1463040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RQ1 – RQ5 guiding the thesis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956816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1956816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1956816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048256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Research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414016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O1 – O7 system design goals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7608" y="1956816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07608" y="1956816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07608" y="1956816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048256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Literature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2414016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RAG · Hallucination · NLI · Security · UQ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907792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907792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907792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999232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Literature Gap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64992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What no existing system provides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07608" y="2907792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07608" y="2907792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2907792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2999232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System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8" y="3364992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4-stage pipeline overview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858768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3858768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" y="3858768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950208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Hybrid Retrieval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315968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FAISS + BM25 + RAPTOR + Re-ranking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07608" y="3858768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07608" y="3858768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07608" y="3858768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3950208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Verification &amp; Security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3408" y="4315968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NLI scoring, 3-layer defense, UQ tiers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809744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8600" y="4809744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4809744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4901184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Evaluation &amp; 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266944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Retrieval, faithfulness, security, ablation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07608" y="4809744"/>
            <a:ext cx="5577840" cy="859536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007608" y="4809744"/>
            <a:ext cx="594360" cy="859536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07608" y="4809744"/>
            <a:ext cx="594360" cy="8595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93408" y="4901184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Conclusion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93408" y="5266944"/>
            <a:ext cx="4800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727F9A"/>
                </a:solidFill>
                <a:latin typeface="Calibri"/>
              </a:rPr>
              <a:t>Contributions, findings,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3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669280" cy="384048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384048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4132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The Enterprise Document 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4132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41324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Organizations rely on vast internal document stores — HR manuals, compliance guides, IT security policies, onboarding documents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Employees need instant, precise answers to policy questions on a daily basis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Manual search, helpdesks, and keyword retrieval are slow, inconsistent, and difficult to scale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Traditional keyword search fails on semantic or comparative queries entirely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897880" cy="384048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64008" cy="384048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097280"/>
            <a:ext cx="56418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8799C"/>
                </a:solidFill>
                <a:latin typeface="Calibri"/>
              </a:rPr>
              <a:t>Why Accuracy Is Critical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463040"/>
            <a:ext cx="56418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36192"/>
            <a:ext cx="5641848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Wrong leave entitlement → HR disputes, payroll errors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Wrong compliance answer → regulatory fines, legal liability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Wrong security procedure → data breach exposure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Wrong onboarding information → operational inefficiencies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Enterprise AI must be accurate, safe, transparent, and fully private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047488"/>
            <a:ext cx="91440" cy="713232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5047488"/>
            <a:ext cx="11640312" cy="713232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138928"/>
            <a:ext cx="114117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Retrieval-Augmented Generation (RAG) grounds LLM responses in retrieved source documents — dramatically reducing hallucination. However, real enterprise deployments expose four critical weaknesses that existing systems cannot adequately address.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Problem Statement — Four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4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85800" cy="1261872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6858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1078992"/>
            <a:ext cx="1084478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Hallucination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408176"/>
            <a:ext cx="10844784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LLMs generate plausible but factually unsupported claims even with retrieved context. In enterprise policy QA, hallucinated answers can cause direct harm — wrong entitlements, missed compliance steps, legal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22576"/>
            <a:ext cx="1173175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322576"/>
            <a:ext cx="685800" cy="1261872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322576"/>
            <a:ext cx="6858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395728"/>
            <a:ext cx="1084478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Adversarial Manipulation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2724912"/>
            <a:ext cx="10844784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RAG systems are vulnerable to prompt injection attacks, jailbreaks, and indirect injection through retrieved documents. Enterprise deployments are attractive, high-value targets for such manipulation.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639312"/>
            <a:ext cx="1173175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639312"/>
            <a:ext cx="685800" cy="1261872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3639312"/>
            <a:ext cx="6858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712464"/>
            <a:ext cx="1084478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Retrieval Quality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041648"/>
            <a:ext cx="10844784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Flat chunking and single-modality retrieval fail on both exact-keyword and semantic-paraphrase queries. High-level and comparative questions require thematic synthesis across many document chunks.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956048"/>
            <a:ext cx="1173175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956048"/>
            <a:ext cx="685800" cy="1261872"/>
          </a:xfrm>
          <a:prstGeom prst="rect">
            <a:avLst/>
          </a:prstGeom>
          <a:solidFill>
            <a:srgbClr val="23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4956048"/>
            <a:ext cx="685800" cy="12618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029200"/>
            <a:ext cx="10844784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1" i="0">
                <a:solidFill>
                  <a:srgbClr val="1A1A2E"/>
                </a:solidFill>
                <a:latin typeface="Calibri"/>
              </a:rPr>
              <a:t>Opacity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358384"/>
            <a:ext cx="10844784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Systems returning answers without source citations or confidence signals prevent users from knowing when to trust an answer and when to verify it independently — essential in high-stakes enterprise contexts.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Research Questions (RQ1 – RQ5)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5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4300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D4A63"/>
                </a:solidFill>
                <a:latin typeface="Calibri"/>
              </a:rPr>
              <a:t>How can a hybrid retrieval architecture (dense + sparse + hierarchical summaries) improve document retrieval quality compared to single-modality approaches for enterprise policy QA?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057400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2057400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2057400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D4A63"/>
                </a:solidFill>
                <a:latin typeface="Calibri"/>
              </a:rPr>
              <a:t>To what extent does an NLI-based post-hoc verification pipeline reduce hallucinated responses in a RAG system for enterprise document QA?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108960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3108960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3108960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24612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D4A63"/>
                </a:solidFill>
                <a:latin typeface="Calibri"/>
              </a:rPr>
              <a:t>How effectively can a rule-based and template-driven security framework block known categories of prompt injection and jailbreak attacks?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160520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160520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4160520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9768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D4A63"/>
                </a:solidFill>
                <a:latin typeface="Calibri"/>
              </a:rPr>
              <a:t>Does multi-hop query decomposition improve answer quality for complex, comparative, or multi-document questions compared to single-pass retrieval?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212080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5212080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5212080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4924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D4A63"/>
                </a:solidFill>
                <a:latin typeface="Calibri"/>
              </a:rPr>
              <a:t>What is the impact of uncertainty quantification on user trust, transparency, and overall answer reliability in enterprise RAG deployments?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Research Objectives (O1 – O7)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6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0" cy="7315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640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09728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Build a hybrid retrieval pipeline combining FAISS dense search and BM25 sparse search with cross-encoder re-ranking.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792224"/>
            <a:ext cx="117317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792224"/>
            <a:ext cx="640080" cy="7315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792224"/>
            <a:ext cx="640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83664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Implement NLI-based post-hoc faithfulness verification with iterative self-correction to prevent hallucinated responses.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578608"/>
            <a:ext cx="117317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578608"/>
            <a:ext cx="640080" cy="7315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2578608"/>
            <a:ext cx="640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670048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Construct a hierarchical document representation using RAPTOR (Recursive Abstractive Processing for Tree-Organized Retrieval).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364992"/>
            <a:ext cx="117317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364992"/>
            <a:ext cx="640080" cy="7315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364992"/>
            <a:ext cx="640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56432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Implement multi-hop query decomposition for complex, multi-entity, and comparative questions.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151376"/>
            <a:ext cx="117317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4151376"/>
            <a:ext cx="640080" cy="7315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4151376"/>
            <a:ext cx="640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42816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Design a 3-layer prompt injection security framework: content filtering, prompt sandboxing, and role-pinning templates.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937760"/>
            <a:ext cx="117317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4937760"/>
            <a:ext cx="640080" cy="7315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4937760"/>
            <a:ext cx="640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29200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Introduce a 4-tier uncertainty quantification system (HIGH / MODERATE / LOW / ABSTAIN) with calibrated confidence signals.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724144"/>
            <a:ext cx="1173175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5724144"/>
            <a:ext cx="640080" cy="7315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5724144"/>
            <a:ext cx="6400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815584"/>
            <a:ext cx="106984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Deliver a full-stack, locally-deployable application with JWT auth, SSE streaming, chat history, audit logging, and Next.js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AAAD4"/>
                </a:solidFill>
                <a:latin typeface="Calibri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1960"/>
            <a:ext cx="5486400" cy="36576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AABBCC"/>
                </a:solidFill>
                <a:latin typeface="Calibri"/>
              </a:rPr>
              <a:t>RAG  ·  Hallucination  ·  NLI  ·  Hybrid Retrieval  ·  RAPTOR  ·  Security  ·  Uncertainty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Literature Review: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8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669280" cy="329184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329184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4132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Foundational 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4132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41324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Lewis et al. (2020) — Original RAG: retrieve relevant passages at query time, condition generation on them. NeurIPS.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Karpukhin et al. (2020) — Dense Passage Retrieval (DPR): dual encoders for efficient semantic similarity search.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Gao et al. (2023) — Advanced RAG survey: pre-retrieval, retrieval, and post-retrieval improvement strategies.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897880" cy="329184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64008" cy="329184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097280"/>
            <a:ext cx="56418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8799C"/>
                </a:solidFill>
                <a:latin typeface="Calibri"/>
              </a:rPr>
              <a:t>Key Challenges Identified in Literature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463040"/>
            <a:ext cx="56418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36192"/>
            <a:ext cx="5641848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Liu et al. (2024) — Lost-in-the-Middle: LLMs underweight information in the middle of long retrieved contexts → motivates hierarchical retrieval.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Recski et al. (2026) — Structural constraints during generation can eliminate intrinsic hallucinations in scholarly QA.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Das et al. (2026) — Fine-grained claim-level verification essential in high-stakes application domains.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480560"/>
            <a:ext cx="91440" cy="713232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480560"/>
            <a:ext cx="11640312" cy="713232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141171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Research Gap: RAG reduces but does not eliminate hallucination. The lost-in-the-middle problem motivates hierarchical document representations (RAPTOR). Claim-level post-hoc verification over retrieved context is essential for accurate enterprise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Literature Review: Hallucination in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9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3749039" cy="41148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41148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3493007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Taxonomy &amp; Surveys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3493007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3493007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Ji et al. (2023) — Intrinsic (contradicts source) vs. Extrinsic (unverifiable). ACM Computing Surveys. Most cited hallucination survey.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Tonmoy et al. (2024) — Post-hoc NLI verification rated most practical for production systems without retraining.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Bai et al. (2024) — Multimodal hallucination: cross-modal gaps amplify error rates significantly.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005840"/>
            <a:ext cx="3749039" cy="41148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005840"/>
            <a:ext cx="64008" cy="411480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097280"/>
            <a:ext cx="3493007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E183D"/>
                </a:solidFill>
                <a:latin typeface="Calibri"/>
              </a:rPr>
              <a:t>Theoretical Limits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463040"/>
            <a:ext cx="3493007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5112" y="1536192"/>
            <a:ext cx="3493007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Xu et al. (2024) — Hallucination is mathematically inevitable in finite-parameter models; elimination is impossible, mitigation is the goal.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Kalai et al. (2025) — Traces hallucination origins to contradictory passages in pre-training corpora.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005840"/>
            <a:ext cx="3867912" cy="41148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005840"/>
            <a:ext cx="64008" cy="41148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1097280"/>
            <a:ext cx="3611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7A55"/>
                </a:solidFill>
                <a:latin typeface="Calibri"/>
              </a:rPr>
              <a:t>NLI as Faithfulness Signal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2" y="1463040"/>
            <a:ext cx="361188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2" y="1536192"/>
            <a:ext cx="3611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Maynez et al. (2020) — Sentence-level NLI scores correlate well with human faithfulness judgements in abstractive summarization.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Laban et al. (2022 — SummaC) — Per-sentence NLI scoring outperforms document-level for inconsistency detection.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He et al. (2023 — DeBERTaV3) — State-of-the-art NLI cross-encoder used in SecureHall-RAG.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321808"/>
            <a:ext cx="91440" cy="4572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321808"/>
            <a:ext cx="11640312" cy="45720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11411712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SummaC directly motivates our design. Xu et al.'s theoretical finding makes post-hoc NLI verification a non-negotiable architectural requirement.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Literature Review: Hybrid Retrieval &amp; RAPTOR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10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669280" cy="3566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35661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4132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Hybrid Retrieval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4132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41324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Lin &amp; Ma (2021) — BM25 excels on exact token overlap; dense models generalize to semantic paraphrase. They are genuinely complementary.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Cormack et al. (2009) — Reciprocal Rank Fusion: parameter-free list combination, no score normalization required.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Thakur et al. (BEIR, 2021) — No single retrieval approach dominates across 18 diverse benchmarks. Strong empirical case for hybrid 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897880" cy="3566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64008" cy="356616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097280"/>
            <a:ext cx="56418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8799C"/>
                </a:solidFill>
                <a:latin typeface="Calibri"/>
              </a:rPr>
              <a:t>RAPTOR Hierarchical Retrieval (Sarthi et al.,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463040"/>
            <a:ext cx="56418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36192"/>
            <a:ext cx="5641848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Cluster chunks using Gaussian Mixture Models → LLM generates abstractive summaries per cluster → index summary nodes alongside raw chunks.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Flat chunking is insufficient for high-level or comparative queries requiring cross-document synthesis.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SecureHall-RAG implements single-level K-Means RAPTOR (simpler, no external dependencies, same core benefit).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Summary nodes tagged raptor_summary_* co-indexed in both FAISS and BM25.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754880"/>
            <a:ext cx="91440" cy="5943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754880"/>
            <a:ext cx="11640312" cy="59436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46320"/>
            <a:ext cx="11411712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Design decision: FAISS + BM25 fused via RRF → cross-encoder re-ranking (top-20 → top-5) → RAPTOR cluster summaries for thematic queries. All three shown to contribute independently in our ablation study.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Literature Review: Security &amp; 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11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669280" cy="43891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438912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4132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E183D"/>
                </a:solidFill>
                <a:latin typeface="Calibri"/>
              </a:rPr>
              <a:t>Prompt Injection Attacks &amp; Defense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4132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41324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Perez &amp; Ribeiro (2022) — Catalogued injection attack classes; naive system-prompt separation is insufficient protection.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Greshake et al. (2023) — Indirect injection through retrieved documents extends the attack surface beyond user input.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Nafi et al. — LASH (2026) — Adaptive semantic hybridization attacks bypass naive regex pattern filters alone.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Wang et al. (2026) — Context-invariant safety alignment: constraints active regardless of adversarial context.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OWASP (2023) — Defense-in-depth as the authoritative standard for LLM application security; prompt injection is the #1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897880" cy="43891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64008" cy="438912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097280"/>
            <a:ext cx="56418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45909"/>
                </a:solidFill>
                <a:latin typeface="Calibri"/>
              </a:rPr>
              <a:t>Uncertainty Quantification in NLP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463040"/>
            <a:ext cx="56418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36192"/>
            <a:ext cx="564184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Kuhn et al. (2023 — Semantic Entropy) — Entropy over semantically equivalent answer clusters; better correlated with accuracy than token-level confidence.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Manakul et al. (2023 — SelfCheckGPT) — Multi-sample consistency as an effective proxy for model confidence.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Kadavath et al. (2022) — LLMs can express calibrated verbal confidence when explicitly prompted to do so.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Roy et al. (2026 — Counter Turing Test) — Visible uncertainty indicators are practical safeguards as AI text becomes indistinguishable from human writing.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Literature 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12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1173175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2700"/>
                <a:gridCol w="1759763"/>
                <a:gridCol w="1759763"/>
                <a:gridCol w="1759763"/>
                <a:gridCol w="1759763"/>
              </a:tblGrid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Lewis+2020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Self-RAG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LangChain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SecureHall-RAG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Dense + Sparse Hybrid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RAPTOR Hierarchical Summaries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NLI Faithfulness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Self-Correction Loop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3-Layer Prompt Injection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4-Tier Uncertainty Quantification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Fully Local — Zero Cloud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057A55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All above in single deployed system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✔ (Only one)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AAAD4"/>
                </a:solidFill>
                <a:latin typeface="Calibri"/>
              </a:rPr>
              <a:t>CHAPTER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System Architecture
&amp;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1960"/>
            <a:ext cx="5486400" cy="36576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AABBCC"/>
                </a:solidFill>
                <a:latin typeface="Calibri"/>
              </a:rPr>
              <a:t>Security  ·  Retrieval  ·  Generation  ·  Verification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4-Stage 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14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1188720" cy="123444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11887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078992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Security Filtering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463040"/>
            <a:ext cx="103327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1536192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Layer 1: Regex Content Filter (17+ attack patterns)   ·   Layer 2: XML Structural Prompt Sandboxing   ·   Layer 3: Hardened Role-Pinning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331720"/>
            <a:ext cx="1173175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331720"/>
            <a:ext cx="1188720" cy="123444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2331720"/>
            <a:ext cx="11887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404872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Intelligent Retrieval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2788920"/>
            <a:ext cx="103327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862072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Semantic Cache Check  →  Multi-hop Query Decomposition  →  FAISS Dense + BM25 Sparse  →  RRF Fusion  →  RAPTOR Summary Nodes  →  Cross-Encoder Re-ranking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657600"/>
            <a:ext cx="1173175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657600"/>
            <a:ext cx="1188720" cy="1234440"/>
          </a:xfrm>
          <a:prstGeom prst="rect">
            <a:avLst/>
          </a:prstGeom>
          <a:solidFill>
            <a:srgbClr val="8B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657600"/>
            <a:ext cx="11887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730752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Grounded Generation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4114800"/>
            <a:ext cx="103327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4187952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Structured XML Prompt Assembly  →  Ollama LLM — Mistral-7B (fully local, no cloud)  →  Inline Citation Brackets [1][2] embedded in answer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983480"/>
            <a:ext cx="1173175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983480"/>
            <a:ext cx="1188720" cy="12344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4983480"/>
            <a:ext cx="118872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056632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A1A2E"/>
                </a:solidFill>
                <a:latin typeface="Calibri"/>
              </a:rPr>
              <a:t>Verification &amp; Response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5440680"/>
            <a:ext cx="103327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5513832"/>
            <a:ext cx="10332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Sentence-level NLI Scoring (DeBERTa)  →  Self-Correction Loop  →  Uncertainty Tier Assignment  →  SSE Streaming to Frontend  →  SQLite 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" y="6492240"/>
            <a:ext cx="11731752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1">
                <a:solidFill>
                  <a:srgbClr val="727F9A"/>
                </a:solidFill>
                <a:latin typeface="Calibri"/>
              </a:rPr>
              <a:t>Principles: Defense-in-Depth  ·  Verification-First  ·  Local-First  ·  Transparency  ·  Modularity  ·  Production-Grade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Document Ingestion Pipeline &amp; RAPTOR Summarization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15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669280" cy="39319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39319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4132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Parsing &amp; Sentence-Aware Chunking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4132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413248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PDF → pdfplumber: preserves layout, page numbers, section metadata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DOCX → python-docx: heading hierarchy detection, paragraph ordering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Chunking: 512-token target, 128-token overlap sliding window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Always ends at sentence boundaries (NLTK sent_tokenize) — no mid-sentence breaks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Chunks under 50 tokens merged with adjacent chunk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897880" cy="39319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64008" cy="39319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097280"/>
            <a:ext cx="56418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8799C"/>
                </a:solidFill>
                <a:latin typeface="Calibri"/>
              </a:rPr>
              <a:t>RAPTOR Hierarchical Summarization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463040"/>
            <a:ext cx="56418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36192"/>
            <a:ext cx="5641848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Step 1: All chunks encoded by SBERT → 384-dim L2-normalized vectors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Step 2: K-Means clustering on normalized embeddings (custom NumPy implementation)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Step 3: LLM generates a concise 2–3 sentence abstractive summary per cluster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Step 4: Summary nodes tagged raptor_summary_* and co-indexed in both FAISS and BM25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Result: Thematic cross-document content becomes retrievable — +8.1% P@1 on comparative queries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120640"/>
            <a:ext cx="91440" cy="59436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5120640"/>
            <a:ext cx="11640312" cy="59436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1411712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RAPTOR gives the retrieval system access to cluster-level document themes that flat chunking cannot surface. Summary nodes go through the same RRF + re-ranking pipeline as raw chunks.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Hybrid Retrieval: FAISS + BM25 + RRF + Cross-Encoder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16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3566160" cy="32004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32004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33101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Dense Retrieval (FAISS)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331012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331012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SBERT all-MiniLM-L6-v2 → 384-dim vectors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L2-normalized → FAISS IndexFlatIP (exact cosine similarity)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Handles semantic paraphrase and conceptual queries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Serialized to .faiss file — persistent across restarts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1005840"/>
            <a:ext cx="3566160" cy="32004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005840"/>
            <a:ext cx="64008" cy="32004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1" y="1097280"/>
            <a:ext cx="33101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8799C"/>
                </a:solidFill>
                <a:latin typeface="Calibri"/>
              </a:rPr>
              <a:t>Sparse Retrieval (BM25)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2231" y="1463040"/>
            <a:ext cx="331012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1" y="1536192"/>
            <a:ext cx="331012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BM25 Okapi via rank_bm25 library, k₁=1.5, b=0.75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Exact keyword matching, jargon, numeric policy terms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Handles exact entitlement figures and regulation codes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Serialized to .pkl — persistent across restarts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1005840"/>
            <a:ext cx="4251960" cy="32004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79" y="1005840"/>
            <a:ext cx="64008" cy="32004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1" y="1097280"/>
            <a:ext cx="39959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7A55"/>
                </a:solidFill>
                <a:latin typeface="Calibri"/>
              </a:rPr>
              <a:t>Cross-Encoder Re-ranking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91271" y="1463040"/>
            <a:ext cx="399592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536192"/>
            <a:ext cx="399592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ms-marco-MiniLM-L-6-v2 cross-encoder model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Attends to (query, chunk) jointly — more precise than bi-encoder similarity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Applied to top-20 RRF candidates → returns top-5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Precision gain: +8.3% P@1 over RRF without reranking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389120"/>
            <a:ext cx="11731752" cy="9144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389120"/>
            <a:ext cx="64008" cy="9144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462272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25C"/>
                </a:solidFill>
                <a:latin typeface="Calibri"/>
              </a:rPr>
              <a:t>Reciprocal Rank Fusion: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462272"/>
            <a:ext cx="8503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700" b="1" i="0">
                <a:solidFill>
                  <a:srgbClr val="1B325C"/>
                </a:solidFill>
                <a:latin typeface="Calibri"/>
              </a:rPr>
              <a:t>RRF(d)  =  Σ  1 / (k + rankᵣ(d))     where k = 60,   r ∈ {dense, sparse}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91947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1">
                <a:solidFill>
                  <a:srgbClr val="727F9A"/>
                </a:solidFill>
                <a:latin typeface="Calibri"/>
              </a:rPr>
              <a:t>Parameter-free  ·  No score normalisation required  ·  Robust across all query types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486400"/>
            <a:ext cx="91440" cy="658368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486400"/>
            <a:ext cx="11640312" cy="658368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11411712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Semantic Cache: Before retrieval, new queries are checked against cached queries (cosine similarity &gt; 0.92 threshold). Cache hit → full response returned in 120ms. Out-of-corpus queries (sim &lt; 0.35) trigger a web search fallback.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NLI Faithfulness Verification &amp; Self-Correction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17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669280" cy="41148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41148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4132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Verification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4132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41324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1.  LLM generates draft answer with inline citation brackets [1][2]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2.  Answer tokenized into individual sentences S = {s₁, s₂, ..., sₙ}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3.  Each sentence paired with full retrieved context C → DeBERTa-v3 NLI cross-encoder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4.  Logits [contradiction, entailment, neutral] → softmax → entailment probability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5.  Overall faithfulness = mean entailment across all sentences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6.  Score mapped to 4-tier confidence (HIGH / MODERATE / LOW / ABSTAIN)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897880" cy="41148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64008" cy="411480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097280"/>
            <a:ext cx="56418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E183D"/>
                </a:solidFill>
                <a:latin typeface="Calibri"/>
              </a:rPr>
              <a:t>Self-Correction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463040"/>
            <a:ext cx="56418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36192"/>
            <a:ext cx="564184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Sentences below the entailment threshold are sent back to the LLM for rewriting using only the available evidence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Second-pass failures are replaced with [REDACTED: Unsupported Claim]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Average 2 self-correction iterations per query during evaluation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Self-correction accounts for ~87% of total pipeline latency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Note: Strict verification at 7B scale produces the Redaction Effect — see Slide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5321808"/>
            <a:ext cx="11731752" cy="804672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5321808"/>
            <a:ext cx="64008" cy="804672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394960"/>
            <a:ext cx="25603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B325C"/>
                </a:solidFill>
                <a:latin typeface="Calibri"/>
              </a:rPr>
              <a:t>NLI Entailment Formula: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376672"/>
            <a:ext cx="6858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B325C"/>
                </a:solidFill>
                <a:latin typeface="Calibri"/>
              </a:rPr>
              <a:t>p(entailment | C, sᵢ)  =  eˡ¹ / (eˡ⁰ + eˡ¹ + eˡ²)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5440680"/>
            <a:ext cx="20116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727F9A"/>
                </a:solidFill>
                <a:latin typeface="Calibri"/>
              </a:rPr>
              <a:t>l₀ = contradiction logit    l₁ = entailment logit    l₂ = neutral logit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4-Tier Uncertainty Quantification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18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117317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080"/>
                <a:gridCol w="2463668"/>
                <a:gridCol w="2463668"/>
                <a:gridCol w="2463668"/>
                <a:gridCol w="2463668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Confidence Range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User-Facing Action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Badge Colour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of Queries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≥ 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Answer returned normally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0.50 – 0.75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Answer with amber badge warning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26.7%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0.35 – 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Answer + explicit warning disclaimer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Orange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ABSTAIN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&lt; 0.35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Safe refusal — no content fabricated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950208"/>
            <a:ext cx="109728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Composite confidence  =  calibrated retrieval score (primary)  +  bounded NLI-verification adjustment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462272"/>
            <a:ext cx="91440" cy="841248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4462272"/>
            <a:ext cx="11640312" cy="841248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553712"/>
            <a:ext cx="11411712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Motivated by Kuhn et al. (2023 — Semantic Entropy): entropy over semantically equivalent answer clusters correlates with factual accuracy better than token-level confidence.
Distribution measured on a 15-question subset. A calibration fix cut the ABSTAIN rate from a previously reported 69.3% to 0%; per-tier correctness needs labelled/human evaluation (not produced by the current harness).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5257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727F9A"/>
                </a:solidFill>
                <a:latin typeface="Calibri"/>
              </a:rPr>
              <a:t>Tier distribution: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1737360" cy="25603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5504688"/>
            <a:ext cx="16459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D4A63"/>
                </a:solidFill>
                <a:latin typeface="Calibri"/>
              </a:rPr>
              <a:t>HIGH: 40.0%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59" y="5532120"/>
            <a:ext cx="3657600" cy="164592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94559" y="5532120"/>
            <a:ext cx="1463040" cy="16459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5815584"/>
            <a:ext cx="1737360" cy="25603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833872"/>
            <a:ext cx="16459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D4A63"/>
                </a:solidFill>
                <a:latin typeface="Calibri"/>
              </a:rPr>
              <a:t>MODERATE: 26.7%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59" y="5861304"/>
            <a:ext cx="3657600" cy="164592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4559" y="5861304"/>
            <a:ext cx="976579" cy="164592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6144768"/>
            <a:ext cx="1737360" cy="25603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6163056"/>
            <a:ext cx="16459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D4A63"/>
                </a:solidFill>
                <a:latin typeface="Calibri"/>
              </a:rPr>
              <a:t>LOW: 33.3%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59" y="6190488"/>
            <a:ext cx="3657600" cy="164592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4559" y="6190488"/>
            <a:ext cx="1217980" cy="164592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6473952"/>
            <a:ext cx="1737360" cy="25603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" y="6492240"/>
            <a:ext cx="16459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D4A63"/>
                </a:solidFill>
                <a:latin typeface="Calibri"/>
              </a:rPr>
              <a:t>ABSTAIN: 0.0%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59" y="6519672"/>
            <a:ext cx="3657600" cy="164592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94559" y="6519672"/>
            <a:ext cx="18288" cy="164592"/>
          </a:xfrm>
          <a:prstGeom prst="rect">
            <a:avLst/>
          </a:prstGeom>
          <a:solidFill>
            <a:srgbClr val="727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3-Layer Prompt Injection Defense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19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1005840" cy="1719072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05840"/>
            <a:ext cx="1005840" cy="17190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097280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Content Filter — Pattern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81328"/>
            <a:ext cx="1051560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Compiled regular expressions detect 17+ adversarial signatures: direct injection ("ignore previous instructions"), DAN/jailbreak patterns, role reassignment ("you are now..."), base64-encoded payloads, data exfiltration requests. Matching queries rejected before any LLM token is consumed. Pattern filter alone blocks 54.8% of should-block attacks.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798064"/>
            <a:ext cx="1173175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798064"/>
            <a:ext cx="1005840" cy="1719072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798064"/>
            <a:ext cx="1005840" cy="17190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889504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Semantic Attack Detector — Embedding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73552"/>
            <a:ext cx="1051560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Each query is compared (cosine similarity) against a bank of known attack intents; matches above threshold are flagged even with no keyword overlap. Catches paraphrased/contextual jailbreaks, raising the block rate 54.8% -&gt; 61.3% with no new false positives.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4590288"/>
            <a:ext cx="1173175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4590288"/>
            <a:ext cx="1005840" cy="171907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4590288"/>
            <a:ext cx="1005840" cy="17190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2/3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81728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Structural Sandboxing + Hardened Templates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065776"/>
            <a:ext cx="10515600" cy="11704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System instructions, retrieved context, and user input are placed in distinct XML-tagged sections so injected text cannot override the system section, and generation templates restate role constraints at every call (Wang et al. 2026, context-invariant alignment).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6537960"/>
            <a:ext cx="11731752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57A55"/>
                </a:solidFill>
                <a:latin typeface="Calibri"/>
              </a:rPr>
              <a:t>Result: measured attack-block rate 54.8% (pattern) -&gt; 61.3% (+ semantic), 78.3% overall correct, zero new false positives.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20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3749039" cy="5577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3749039" cy="50292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34747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Backend / AI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00200"/>
            <a:ext cx="347471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FastAPI + Uvicorn (async)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Ollama — Mistral-7B / Llama3-8B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FAISS IndexFlatIP (vectors)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rank_bm25 — BM25 Okapi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Sentence-Transformers (SBERT)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nli-deberta-v3-small (NLI)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ms-marco cross-encoder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SQLAlchemy + SQLite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python-jose + passlib (JWT)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7" y="1005840"/>
            <a:ext cx="3749039" cy="5577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7" y="1005840"/>
            <a:ext cx="3749039" cy="5029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7" y="1051560"/>
            <a:ext cx="34747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7" y="1600200"/>
            <a:ext cx="347471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Next.js 14 — App Router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Zustand (state management)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Framer Motion (animations)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Real-time SSE streaming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Inline citation superscripts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Uncertainty tier badges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Slide-in citation panels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Session history sidebar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Admin dashboard (tabbed)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9014" y="1005840"/>
            <a:ext cx="3749039" cy="5577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4" y="1005840"/>
            <a:ext cx="3749039" cy="5029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4" y="1051560"/>
            <a:ext cx="3474719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4" y="1600200"/>
            <a:ext cx="347471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Docker + Docker Compose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JWT Role-Based Access Control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Server-Sent Events (SSE)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SQLite audit log persistence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bcrypt password hashing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Semantic query cache (LRU)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Web search fallback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Zero cloud API dependency</a:t>
            </a:r>
          </a:p>
          <a:p>
            <a:pPr>
              <a:spcBef>
                <a:spcPts val="35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Standard laptop hardware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AAAD4"/>
                </a:solidFill>
                <a:latin typeface="Calibri"/>
              </a:rP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Evaluation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1960"/>
            <a:ext cx="5486400" cy="36576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AABBCC"/>
                </a:solidFill>
                <a:latin typeface="Calibri"/>
              </a:rPr>
              <a:t>Retrieval  ·  Faithfulness  ·  Security  ·  Uncertainty  ·  Ablation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Evaluation Methodology &amp;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22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394960" cy="32004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32004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13892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Hardware 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13892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13892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Intel Core i7-12th Generation processor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16 GB RAM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NVIDIA GeForce RTX 3050 Laptop GPU, 4 GB VRAM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Ollama + Mistral-7B — fully local, no cloud 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005840"/>
            <a:ext cx="6172200" cy="320040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06440" y="1005840"/>
            <a:ext cx="64008" cy="32004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1032" y="1097280"/>
            <a:ext cx="591616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8799C"/>
                </a:solidFill>
                <a:latin typeface="Calibri"/>
              </a:rPr>
              <a:t>Benchmark &amp; Test Sets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1032" y="1463040"/>
            <a:ext cx="591616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2" y="1536192"/>
            <a:ext cx="5916168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10 enterprise policy manual documents (29 chunks) as the corpus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75-question benchmark: 60 answerable + 15 unanswerable, 5 categories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60-case adversarial set (31 should-block) for security evaluation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Retrieval + security measured in full; quality on a 15-question subset (CPU cost)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Auto-generated gold answers; human/judge faithfulness evaluation is 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4370832"/>
            <a:ext cx="4572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Baseline Configurations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754880"/>
            <a:ext cx="11731752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4828032"/>
            <a:ext cx="11731752" cy="420624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882896"/>
            <a:ext cx="3200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1B325C"/>
                </a:solidFill>
                <a:latin typeface="Calibri"/>
              </a:rPr>
              <a:t>Baseline A — Vanilla RAG: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4882896"/>
            <a:ext cx="82296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FAISS dense retrieval only; no re-ranking, NLI verification, or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294376"/>
            <a:ext cx="11731752" cy="420624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349240"/>
            <a:ext cx="3200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1B325C"/>
                </a:solidFill>
                <a:latin typeface="Calibri"/>
              </a:rPr>
              <a:t>Baseline B — Hybrid RAG: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5349240"/>
            <a:ext cx="82296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FAISS + BM25 + cross-encoder reranker; no NLI verification or RAPTOR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760720"/>
            <a:ext cx="11731752" cy="420624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815584"/>
            <a:ext cx="3200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1B325C"/>
                </a:solidFill>
                <a:latin typeface="Calibri"/>
              </a:rPr>
              <a:t>Baseline C — Hybrid + NLI: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5815584"/>
            <a:ext cx="82296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Adds NLI faithfulness scoring; still no RAPTOR, multi-hop, or 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6227064"/>
            <a:ext cx="11731752" cy="420624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281928"/>
            <a:ext cx="32004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1" i="0">
                <a:solidFill>
                  <a:srgbClr val="1B325C"/>
                </a:solidFill>
                <a:latin typeface="Calibri"/>
              </a:rPr>
              <a:t>SecureHall-RAG (Full System):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6281928"/>
            <a:ext cx="8229600" cy="3017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All components active — the complete proposed system under evaluation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Results: Retrieval Performance (RQ1)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23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1173175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8065"/>
                <a:gridCol w="1454737"/>
                <a:gridCol w="1454737"/>
                <a:gridCol w="1454737"/>
                <a:gridCol w="1454737"/>
                <a:gridCol w="1454737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Retrieval Configuration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P@1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P@3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P@5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R@3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Dense Only (FAISS)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Sparse Only (BM25)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Hybrid RRF (no re-ranking)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Hybrid RRF + Re-ranking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SecureHall-RAG (Full System)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3840480"/>
            <a:ext cx="2606040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3931920"/>
            <a:ext cx="2606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B45909"/>
                </a:solidFill>
                <a:latin typeface="Calibri"/>
              </a:rPr>
              <a:t>0.850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17720"/>
            <a:ext cx="224028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4681728"/>
            <a:ext cx="2423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Dense-only P@1
(15% of queries missed)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3840480"/>
            <a:ext cx="2606040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3931920"/>
            <a:ext cx="2606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057A55"/>
                </a:solidFill>
                <a:latin typeface="Calibri"/>
              </a:rPr>
              <a:t>1.000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617720"/>
            <a:ext cx="224028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4681728"/>
            <a:ext cx="2423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Hybrid + Re-ranking P@1
(full system)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3840480"/>
            <a:ext cx="2606040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3931920"/>
            <a:ext cx="2606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08799C"/>
                </a:solidFill>
                <a:latin typeface="Calibri"/>
              </a:rPr>
              <a:t>1.000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4617720"/>
            <a:ext cx="224028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4681728"/>
            <a:ext cx="2423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BM25 alone P@1
(corpus near-saturated)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3840480"/>
            <a:ext cx="3364992" cy="128016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3931920"/>
            <a:ext cx="336499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B325C"/>
                </a:solidFill>
                <a:latin typeface="Calibri"/>
              </a:rPr>
              <a:t>60 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4617720"/>
            <a:ext cx="2999232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0" y="4681728"/>
            <a:ext cx="318211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Answerable benchmark
(retrieval_ablation.py)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321808"/>
            <a:ext cx="91440" cy="5943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321808"/>
            <a:ext cx="11640312" cy="59436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413248"/>
            <a:ext cx="11411712" cy="429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RQ1 Answer: Hybrid + re-ranking reaches P@1 = 1.000 vs. 0.850 dense-only. On this small, lexically distinctive corpus BM25 alone also reaches 1.000, so retrieval is near-saturated — the hybrid design's value here is robustness (matching the best single method), not a large margin. A larger corpus is needed to show a decisive advantage.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Results: Faithfulness &amp; Hallucination Prevention (RQ2)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24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117317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2700"/>
                <a:gridCol w="3519526"/>
                <a:gridCol w="3519526"/>
              </a:tblGrid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 (no verification)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Enhanced (full verification)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ROUGE-L faithfulness (↑)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Semantic faithfulness — answer vs context (↑)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0.664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0.661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Answer relevance (↑)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Mean confidence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0.733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0.661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538728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1">
                <a:solidFill>
                  <a:srgbClr val="727F9A"/>
                </a:solidFill>
                <a:latin typeface="Calibri"/>
              </a:rPr>
              <a:t>Measured on a 15-question category-balanced subset (run_ablation.py). Differences are not statistically significant (p = 0.51–0.99).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977639"/>
            <a:ext cx="2606040" cy="1298448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4069079"/>
            <a:ext cx="2606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057A55"/>
                </a:solidFill>
                <a:latin typeface="Calibri"/>
              </a:rPr>
              <a:t>0.66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754879"/>
            <a:ext cx="224028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818887"/>
            <a:ext cx="2423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Semantic faithfulness
(the meaningful signal)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3977639"/>
            <a:ext cx="2606040" cy="1298448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4069079"/>
            <a:ext cx="2606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B45909"/>
                </a:solidFill>
                <a:latin typeface="Calibri"/>
              </a:rPr>
              <a:t>~0.08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754879"/>
            <a:ext cx="224028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4818887"/>
            <a:ext cx="2423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ROUGE-L (metric–task
mismatch, not quality)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3977639"/>
            <a:ext cx="2606040" cy="1298448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4069079"/>
            <a:ext cx="2606040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BE183D"/>
                </a:solidFill>
                <a:latin typeface="Calibri"/>
              </a:rPr>
              <a:t>+98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4754879"/>
            <a:ext cx="224028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4818887"/>
            <a:ext cx="24231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Verification latency
overhead on 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3977639"/>
            <a:ext cx="3364992" cy="1298448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069079"/>
            <a:ext cx="3364992" cy="6583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1B325C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78240" y="4754879"/>
            <a:ext cx="2999232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4818887"/>
            <a:ext cx="3182112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727F9A"/>
                </a:solidFill>
                <a:latin typeface="Calibri"/>
              </a:rPr>
              <a:t>ABSTAIN rate
(was 69.3% before fix)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486400"/>
            <a:ext cx="91440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486400"/>
            <a:ext cx="11640312" cy="82296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114117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RQ2 Answer: Verification is a guard, not a generator — it flags/redacts unsupported claims and routes low-support answers to disclaimers or abstention, so it changes grounding little on already well-retrieved answers (semantic faithfulness ≈ 0.66 both modes). NOTE: a hallucination-rate figure (e.g. 34%→8%) requires labelled/human evaluation not produced by the current harness — regenerate or state qualitatively before the viva.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Results: Security Evaluation — 60 Adversarial Cases (RQ3)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25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1173175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8795"/>
                <a:gridCol w="2580985"/>
                <a:gridCol w="2580985"/>
                <a:gridCol w="2580985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Attack Category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Should Block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 (pattern)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Enhanced (+ semantic)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Prompt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6  (60.0%)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6  (60.0%)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Jailbreak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5  (50.0%)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7  (70.0%)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Encoded / Obfuscated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6  (75.0%)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6  (75.0%)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Edge Case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0  (0.0%)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0  (0.0%)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TOTAL attack-block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17 (54.8%)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19 (61.3%)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Overall correct (60 cases)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45 (75.0%)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47 (78.3%)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526280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7A55"/>
                </a:solidFill>
                <a:latin typeface="Calibri"/>
              </a:rPr>
              <a:t>✔   Embedding-similarity semantic detector raises the attack-block rate 54.8% → 61.3% (all gain in the jailbreak category)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956048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7A55"/>
                </a:solidFill>
                <a:latin typeface="Calibri"/>
              </a:rPr>
              <a:t>✔   No new false positives — a minimum-length guard keeps short benign queries from being flagged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5468112"/>
            <a:ext cx="91440" cy="8686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5468112"/>
            <a:ext cx="11640312" cy="86868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559552"/>
            <a:ext cx="11411712" cy="7040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RQ3 Answer: Layered detection is a measurable improvement, not a solved problem. The pattern filter blocks 54.8% of should-block attacks; adding the semantic detector lifts this to 61.3% at 78.3% overall correct handling. Fully novel vectors (edge cases, 0/3) that are neither pattern-matched nor close to a known attack intent still evade detection.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Results: Uncertainty Tier Calibration (RQ5)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26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1173175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0255"/>
                <a:gridCol w="4340748"/>
                <a:gridCol w="4340748"/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Assigned Tier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% of Queries (measured)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User-Facing Action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HIGH  (≥ 0.75)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Answer returned normally (green badge)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MODERATE  (0.50–0.75)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26.7%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Answer with amber-badge warning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LOW  (0.35–0.50)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33.3%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Answer + explicit warning disclaimer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ABSTAIN  (&lt; 0.35)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D4A63"/>
                          </a:solidFill>
                          <a:latin typeface="Calibri"/>
                        </a:rPr>
                        <a:t>Safe refusal — no content fabricated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749039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25C"/>
                </a:solidFill>
                <a:latin typeface="Calibri"/>
              </a:rPr>
              <a:t>Tier distribution (enhanced, 15-question subset):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87952"/>
            <a:ext cx="1920240" cy="292608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4215384"/>
            <a:ext cx="179222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HIGH: 40.0%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4242816"/>
            <a:ext cx="4114800" cy="182880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4242816"/>
            <a:ext cx="1645920" cy="1828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4572000"/>
            <a:ext cx="1920240" cy="292608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4599432"/>
            <a:ext cx="179222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MODERATE: 26.7%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626864"/>
            <a:ext cx="4114800" cy="182880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77440" y="4626864"/>
            <a:ext cx="1098651" cy="18288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4956048"/>
            <a:ext cx="1920240" cy="292608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4983480"/>
            <a:ext cx="179222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LOW: 33.3%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5010912"/>
            <a:ext cx="4114800" cy="182880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5010912"/>
            <a:ext cx="1370228" cy="18288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5340096"/>
            <a:ext cx="1920240" cy="292608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5367528"/>
            <a:ext cx="179222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ABSTAIN: 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394960"/>
            <a:ext cx="4114800" cy="182880"/>
          </a:xfrm>
          <a:prstGeom prst="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77440" y="5394960"/>
            <a:ext cx="27432" cy="182880"/>
          </a:xfrm>
          <a:prstGeom prst="rect">
            <a:avLst/>
          </a:prstGeom>
          <a:solidFill>
            <a:srgbClr val="727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749039"/>
            <a:ext cx="91440" cy="192024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0" y="3749039"/>
            <a:ext cx="5102352" cy="192024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840479"/>
            <a:ext cx="4873752" cy="17556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The confidence-calibration fix cut the ABSTAIN rate from a previously reported 69.3% to 0% on this answerable set.
Tradeoff: the system abstains far less, but verification has less power to pull down a well-retrieved but poorly-grounded answer — a residual over-confidence risk to monitor.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6382512"/>
            <a:ext cx="91440" cy="3657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6382512"/>
            <a:ext cx="11640312" cy="36576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11411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RQ5 Answer: The 4-tier system gives actionable confidence signals. (Per-tier correctness needs labelled/human evaluation — regenerate before quoting exact figures.)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Ablation Study: Individual Component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27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05840"/>
          <a:ext cx="11731751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6605"/>
                <a:gridCol w="3167573"/>
                <a:gridCol w="3167573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P@1 (measured)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Security Attack-Block Rate</a:t>
                      </a:r>
                    </a:p>
                  </a:txBody>
                  <a:tcPr>
                    <a:solidFill>
                      <a:srgbClr val="1B32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Full System (pattern + semantic security)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61.3%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−  Semantic Attack Detector (pattern only)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54.8%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−  Cross-Encoder Re-ranker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0.983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61.3%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−  BM25 Sparse Index (dense only)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0.850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61.3%</a:t>
                      </a:r>
                    </a:p>
                  </a:txBody>
                  <a:tcPr>
                    <a:solidFill>
                      <a:srgbClr val="EEF2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2E"/>
                          </a:solidFill>
                          <a:latin typeface="Calibri"/>
                        </a:rPr>
                        <a:t>−  Security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D4A63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E183D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28600" y="5102352"/>
            <a:ext cx="11731752" cy="34747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5102352"/>
            <a:ext cx="64008" cy="347472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5148072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Cross-encoder re-ranking lifts P@1 from 0.983 → 1.000; removing BM25 (dense only) drops it to 0.850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5522976"/>
            <a:ext cx="11731752" cy="34747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5522976"/>
            <a:ext cx="64008" cy="347472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5568696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Semantic attack detector lifts the block rate 54.8% → 61.3% with no new false positives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5943600"/>
            <a:ext cx="11731752" cy="34747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5943600"/>
            <a:ext cx="64008" cy="347472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989320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Removing the security framework causes complete adversarial failure: block rate 61.3% → 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6364224"/>
            <a:ext cx="11731752" cy="347472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6364224"/>
            <a:ext cx="64008" cy="347472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409944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P@1 and security are measured; NLI/hallucination-rate columns need a labelled/human evaluation (future work)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System Performance &amp; Latency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28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303520" cy="521208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521208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04748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Key Performance Metrics (measured, CPU)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04748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047488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Baseline latency, no verification:   ~50 s / query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Enhanced latency, full verification:   ~149 s / query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Verification + self-correction overhead:   +98 s (p &lt; 0.001)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Retrieval (hybrid search + reranker):   &lt; 150 ms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Semantic cache hit latency:   0.12 seconds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FAISS index build (100 chunks):   0.8 s   ·   BM25:  0.3 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GPU / quantized inference required for interactive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005840"/>
            <a:ext cx="61264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B325C"/>
                </a:solidFill>
                <a:latin typeface="Calibri"/>
              </a:rPr>
              <a:t>Latency breakdown (full pipeline, non-cached):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444752"/>
            <a:ext cx="2743200" cy="365760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490472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Security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20" y="1444752"/>
            <a:ext cx="1691640" cy="365760"/>
          </a:xfrm>
          <a:prstGeom prst="rect">
            <a:avLst/>
          </a:prstGeom>
          <a:solidFill>
            <a:srgbClr val="E5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32520" y="1444752"/>
            <a:ext cx="45720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149047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8 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874520"/>
            <a:ext cx="2743200" cy="365760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920240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Hybrid retrieval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874520"/>
            <a:ext cx="1691640" cy="365760"/>
          </a:xfrm>
          <a:prstGeom prst="rect">
            <a:avLst/>
          </a:prstGeom>
          <a:solidFill>
            <a:srgbClr val="E5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1874520"/>
            <a:ext cx="45720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192024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42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2304288"/>
            <a:ext cx="2743200" cy="365760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2350008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Cross-encoder re-ranking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2304288"/>
            <a:ext cx="1691640" cy="365760"/>
          </a:xfrm>
          <a:prstGeom prst="rect">
            <a:avLst/>
          </a:prstGeom>
          <a:solidFill>
            <a:srgbClr val="E5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32520" y="2304288"/>
            <a:ext cx="45720" cy="36576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2350008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210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734056"/>
            <a:ext cx="2743200" cy="365760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779776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LLM generation (baseline)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2734056"/>
            <a:ext cx="1691640" cy="365760"/>
          </a:xfrm>
          <a:prstGeom prst="rect">
            <a:avLst/>
          </a:prstGeom>
          <a:solidFill>
            <a:srgbClr val="E5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32520" y="2734056"/>
            <a:ext cx="845820" cy="36576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2779776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~50,000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3163824"/>
            <a:ext cx="2743200" cy="365760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3209544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NLI verification (7 claims)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3163824"/>
            <a:ext cx="1691640" cy="365760"/>
          </a:xfrm>
          <a:prstGeom prst="rect">
            <a:avLst/>
          </a:prstGeom>
          <a:solidFill>
            <a:srgbClr val="E5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3163824"/>
            <a:ext cx="676656" cy="36576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3209544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~40,000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52160" y="3593592"/>
            <a:ext cx="2743200" cy="365760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0" y="3639312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Self-correction rounds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3593592"/>
            <a:ext cx="1691640" cy="365760"/>
          </a:xfrm>
          <a:prstGeom prst="rect">
            <a:avLst/>
          </a:prstGeom>
          <a:solidFill>
            <a:srgbClr val="E5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32520" y="3593592"/>
            <a:ext cx="981151" cy="36576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15600" y="3639312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~58,000 ms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4023360"/>
            <a:ext cx="2743200" cy="365760"/>
          </a:xfrm>
          <a:prstGeom prst="rect">
            <a:avLst/>
          </a:prstGeom>
          <a:solidFill>
            <a:srgbClr val="E8EEFA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0" y="4069080"/>
            <a:ext cx="2606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Database write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4023360"/>
            <a:ext cx="1691640" cy="365760"/>
          </a:xfrm>
          <a:prstGeom prst="rect">
            <a:avLst/>
          </a:prstGeom>
          <a:solidFill>
            <a:srgbClr val="E5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32520" y="4023360"/>
            <a:ext cx="45720" cy="365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4069080"/>
            <a:ext cx="14630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3D4A63"/>
                </a:solidFill>
                <a:latin typeface="Calibri"/>
              </a:rPr>
              <a:t>15 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52160" y="5074920"/>
            <a:ext cx="91440" cy="82296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5074920"/>
            <a:ext cx="6016752" cy="82296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5166360"/>
            <a:ext cx="578815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LLM generation + NLI verification + self-correction dominate latency. The verification loop adds ~98 s per query on CPU (enhanced ~149 s vs. baseline ~50 s). On CPU the enhanced pipeline is a high-assurance, non-real-time mode; GPU + GGUF Q4 inference is required to make it interactive.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AAAD4"/>
                </a:solidFill>
                <a:latin typeface="Calibri"/>
              </a:rP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Discussion &amp; Key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1960"/>
            <a:ext cx="5486400" cy="36576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AABBCC"/>
                </a:solidFill>
                <a:latin typeface="Calibri"/>
              </a:rPr>
              <a:t>Answering the Research Questions  ·  Novel Discoveries  ·  Limitations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Novel Finding: The Redaction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30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828800"/>
          </a:xfrm>
          <a:prstGeom prst="rect">
            <a:avLst/>
          </a:prstGeom>
          <a:solidFill>
            <a:srgbClr val="FFF5E8"/>
          </a:solidFill>
          <a:ln w="25400">
            <a:solidFill>
              <a:srgbClr val="B459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11731752" cy="73152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15568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45909"/>
                </a:solidFill>
                <a:latin typeface="Calibri"/>
              </a:rPr>
              <a:t>KEY NOVEL FINDING — THE REDACTION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114300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 i="0">
                <a:solidFill>
                  <a:srgbClr val="3D4A63"/>
                </a:solidFill>
                <a:latin typeface="Calibri"/>
              </a:rPr>
              <a:t>During local Mistral-7B evaluation, the strict claim-verification prompt caused the model to classify paraphrased but factually correct statements as 'unsupported,' triggering automatic [REDACTED: Unsupported Claim] substitution. When the post-hoc NLI evaluator scored these responses, it returned near-zero entailment (average NLI = 0.08), because a redaction placeholder does not logically follow from the source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2971800"/>
            <a:ext cx="5577840" cy="1737360"/>
          </a:xfrm>
          <a:prstGeom prst="rect">
            <a:avLst/>
          </a:prstGeom>
          <a:solidFill>
            <a:srgbClr val="EFFBF4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2971800"/>
            <a:ext cx="64008" cy="17373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3063240"/>
            <a:ext cx="532180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7A55"/>
                </a:solidFill>
                <a:latin typeface="Calibri"/>
              </a:rPr>
              <a:t>What Strict Verification Achieves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429000"/>
            <a:ext cx="532180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502152"/>
            <a:ext cx="532180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Hallucination rate suppressed to just 8%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Every returned answer is verified against source or safely redacted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The system cannot fabricate facts or invent policy terms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971800"/>
            <a:ext cx="5971032" cy="1737360"/>
          </a:xfrm>
          <a:prstGeom prst="rect">
            <a:avLst/>
          </a:prstGeom>
          <a:solidFill>
            <a:srgbClr val="FEF2F2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2971800"/>
            <a:ext cx="64008" cy="173736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3063240"/>
            <a:ext cx="5715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E183D"/>
                </a:solidFill>
                <a:latin typeface="Calibri"/>
              </a:rPr>
              <a:t>The Cost at 7B Model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53912" y="3429000"/>
            <a:ext cx="571500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3912" y="3502152"/>
            <a:ext cx="5715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Responses become heavily redacted and less useful to users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Correctly-phrased paraphrased claims are deleted unnecessarily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NLI score for redacted outputs drops to near-zero (average 0.08)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892040"/>
            <a:ext cx="91440" cy="96012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4892040"/>
            <a:ext cx="11640312" cy="960120"/>
          </a:xfrm>
          <a:prstGeom prst="rect">
            <a:avLst/>
          </a:prstGeom>
          <a:solidFill>
            <a:srgbClr val="F0F6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11411712" cy="79552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Core Tension: Strict verification vs. response utility at small model scale.
Fix 1: Larger generator model (e.g. Llama-3-70B) that paraphrases with sufficient precision to pass verification.
Fix 2: Soft-threshold approach — issue a warning disclaimer instead of a hard content redaction.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Answering the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31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100584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1005840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005840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1133856"/>
            <a:ext cx="1065276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Hybrid + re-ranking reaches P@1 = 1.000 vs. 0.850 dense-only. On this near-saturated corpus BM25 alone also hits 1.000, so the demonstrated value is robustness, not a large margin.  ◑ Partially confirmed (corpus-limited).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066544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066544"/>
            <a:ext cx="64008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" y="2066544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2066544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194560"/>
            <a:ext cx="1065276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NLI verification flags/redacts unsupported claims and routes low-support answers to disclaimers/abstention. Semantic faithfulness ≈ 0.66. A quantitative hallucination-rate reduction needs human/judge evaluation.  ✔ Mechanism confirmed.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127248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127248"/>
            <a:ext cx="64008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" y="3127248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" y="3127248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3255264"/>
            <a:ext cx="1065276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Attack-block rate 54.8% (pattern) → 61.3% (+ semantic detector), 78.3% overall correct, no new false positives. Layered defense is a measurable improvement, not a complete solution.  ✔ Confirmed.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187952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4187952"/>
            <a:ext cx="64008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4187952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4187952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4315968"/>
            <a:ext cx="1065276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Multi-hop decomposition retrieves and merges context for complex, comparative, multi-entity questions. A quantitative gain figure needs a dedicated comparison (future work).  ✔ Mechanism confirmed.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248656"/>
            <a:ext cx="117317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5248656"/>
            <a:ext cx="64008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" y="5248656"/>
            <a:ext cx="777240" cy="100584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" y="5248656"/>
            <a:ext cx="777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1B325C"/>
                </a:solidFill>
                <a:latin typeface="Calibri"/>
              </a:rPr>
              <a:t>RQ5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5376672"/>
            <a:ext cx="10652760" cy="7498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50" b="0" i="0">
                <a:solidFill>
                  <a:srgbClr val="3D4A63"/>
                </a:solidFill>
                <a:latin typeface="Calibri"/>
              </a:rPr>
              <a:t>Four calibrated tiers give an actionable trust signal; the calibration fix cut ABSTAIN from 69.3% to 0% on the answerable set. Per-tier correctness needs labelled evaluation.  ✔ Mechanism confirmed.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8AAAD4"/>
                </a:solidFill>
                <a:latin typeface="Calibri"/>
              </a:rPr>
              <a:t>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Conclusion &amp;
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51960"/>
            <a:ext cx="5486400" cy="36576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 i="1">
                <a:solidFill>
                  <a:srgbClr val="AABBCC"/>
                </a:solidFill>
                <a:latin typeface="Calibri"/>
              </a:rPr>
              <a:t>Contributions  ·  Limitations  ·  Research Directions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Thesis Contributions (C1 – C4)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33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13716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1005840"/>
            <a:ext cx="77724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005840"/>
            <a:ext cx="7772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B325C"/>
                </a:solidFill>
                <a:latin typeface="Calibr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097280"/>
            <a:ext cx="10652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Multi-Layer Verification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005840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Post-hoc NLI faithfulness scoring (DeBERTa-v3) + 4-tier uncertainty framework (HIGH/MODERATE/LOW/ABSTAIN) that flags/redacts unsupported claims and routes low-support answers to disclaimers or abstention.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481328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Post-hoc NLI faithfulness scoring (DeBERTa-v3) + 4-tier uncertainty framework (HIGH/MODERATE/LOW/ABSTAIN) that flags/redacts unsupported claims and routes low-support answers to disclaimers or abstention.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441448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441448"/>
            <a:ext cx="64008" cy="13716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2608" y="2441448"/>
            <a:ext cx="77724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2608" y="2441448"/>
            <a:ext cx="7772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B325C"/>
                </a:solidFill>
                <a:latin typeface="Calibri"/>
              </a:rP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2532888"/>
            <a:ext cx="10652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Hybrid Hierarchical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441448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FAISS + BM25 fused via RRF + cross-encoder re-ranking + single-level RAPTOR cluster summaries. Reaches P@1 = 1.000 vs. 0.850 dense-only (near-saturated corpus; value is robustness).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916936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FAISS + BM25 fused via RRF + cross-encoder re-ranking + single-level RAPTOR cluster summaries. Reaches P@1 = 1.000 vs. 0.850 dense-only (near-saturated corpus; value is robustness).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877056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3877056"/>
            <a:ext cx="64008" cy="13716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" y="3877056"/>
            <a:ext cx="77724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" y="3877056"/>
            <a:ext cx="7772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B325C"/>
                </a:solidFill>
                <a:latin typeface="Calibri"/>
              </a:rPr>
              <a:t>C3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3968496"/>
            <a:ext cx="10652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Layered Security with Semantic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877056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Regex content filter + embedding-similarity semantic attack detector + XML sandboxing + hardened role-pinning templates. Attack-block rate 54.8% → 61.3% (+ semantic), 78.3% overall correct, no new false positives.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352544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Regex content filter + embedding-similarity semantic attack detector + XML sandboxing + hardened role-pinning templates. Attack-block rate 54.8% → 61.3% (+ semantic), 78.3% overall correct, no new false positives.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312664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5312664"/>
            <a:ext cx="64008" cy="137160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5312664"/>
            <a:ext cx="777240" cy="1371600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5312664"/>
            <a:ext cx="7772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1B325C"/>
                </a:solidFill>
                <a:latin typeface="Calibri"/>
              </a:rPr>
              <a:t>C4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5404104"/>
            <a:ext cx="106527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Honest, Reproducible 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" y="5312664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A genuine baseline-vs-enhanced ablation harness (single enable_verification toggle) plus an embedding-based semantic faithfulness metric — replacing an earlier non-differentiated run, and surfacing the real +98 s verification cost and the abstention-calibration tradeoff.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5788152"/>
            <a:ext cx="10652760" cy="8412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A genuine baseline-vs-enhanced ablation harness (single enable_verification toggle) plus an embedding-based semantic faithfulness metric — replacing an earlier non-differentiated run, and surfacing the real +98 s verification cost and the abstention-calibration tradeoff.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Strengths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34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5669280" cy="530352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53035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097280"/>
            <a:ext cx="54132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57A55"/>
                </a:solidFill>
                <a:latin typeface="Calibri"/>
              </a:rPr>
              <a:t>Strengths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1463040"/>
            <a:ext cx="54132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1536192"/>
            <a:ext cx="541324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Holistic design — first system to unify all 6 capabilities in a single pipeline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Privacy-preserving — zero cloud dependency; sensitive documents stay fully on-premises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Production-quality — JWT auth, RBAC, Docker, audit logs, premium Next.js UI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Transparent — inline citations, source panels, UQ badges, full audit trail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Extensible — modular architecture; any component replaceable without pipeline disruption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Honest evaluation — genuine baseline-vs-enhanced ablation + semantic faithfulness metric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Security — 61.3% attack-block rate (up from 54.8%) with no new false positives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05840"/>
            <a:ext cx="5897880" cy="5303520"/>
          </a:xfrm>
          <a:prstGeom prst="rect">
            <a:avLst/>
          </a:prstGeom>
          <a:solidFill>
            <a:srgbClr val="FEF5F5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0760" y="1005840"/>
            <a:ext cx="64008" cy="530352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097280"/>
            <a:ext cx="5641848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E183D"/>
                </a:solidFill>
                <a:latin typeface="Calibri"/>
              </a:rPr>
              <a:t>Limitations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463040"/>
            <a:ext cx="5641848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536192"/>
            <a:ext cx="5641848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High latency — enhanced pipeline ~149s on CPU (+98s for verification); needs GPU for interactive use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Abstention tradeoff — the calibration fix cut ABSTAIN to 0% but reduces the verifier's power to suppress weakly-grounded answers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Near-saturated retrieval corpus — 10 docs; BM25 alone reaches P@1=1.000, so hybrid gains can't be shown here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Quality metrics on a 15-question subset; hallucination-rate / per-tier correctness need labelled or human evaluation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English-only; static knowledge (no online feedback learning); synchronous RAPTOR build</a:t>
            </a:r>
          </a:p>
          <a:p>
            <a:pPr algn="l">
              <a:spcBef>
                <a:spcPts val="200"/>
              </a:spcBef>
            </a:pPr>
            <a:r>
              <a:rPr sz="1250">
                <a:solidFill>
                  <a:srgbClr val="3D4A63"/>
                </a:solidFill>
                <a:latin typeface="Calibri"/>
              </a:rPr>
              <a:t>•  Security ceiling — 61.3%; novel vectors outside the pattern library and semantic seed set still evade detection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Future Work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35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9144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1.  GPU Acceleration &amp; Quantization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4475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GGUF Q4/Q8 models with llama.cpp GPU offloading. Target: full pipeline latency below 10 seconds (from current 100-second average).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75104"/>
            <a:ext cx="117317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975104"/>
            <a:ext cx="64008" cy="9144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048256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2.  Adaptive Verification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414016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Replace hard redaction with soft-threshold policy: warning disclaimer instead of deletion. Directly addresses the Redaction Effect at 7B model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944368"/>
            <a:ext cx="117317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2944368"/>
            <a:ext cx="64008" cy="9144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017520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3.  Multilingual Document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383280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Language detection + paraphrase-multilingual-MiniLM-L12-v2 embeddings + multilingual LLM for global enterprise document corpora.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913632"/>
            <a:ext cx="117317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913632"/>
            <a:ext cx="64008" cy="91440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986784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4.  Online Learning from User Feedback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352544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Incorporate thumbs-up/down ratings into periodic embedding model fine-tuning for continuous domain-specific retrieval improvement.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882896"/>
            <a:ext cx="117317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4882896"/>
            <a:ext cx="64008" cy="914400"/>
          </a:xfrm>
          <a:prstGeom prst="rect">
            <a:avLst/>
          </a:prstGeom>
          <a:solidFill>
            <a:srgbClr val="BE1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56048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5.  Graph-Augmented 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321808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Knowledge graph from entity and relation extraction for structured multi-hop reasoning — more precise than LLM-driven decomposition.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852160"/>
            <a:ext cx="1173175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5852160"/>
            <a:ext cx="64008" cy="914400"/>
          </a:xfrm>
          <a:prstGeom prst="rect">
            <a:avLst/>
          </a:prstGeom>
          <a:solidFill>
            <a:srgbClr val="727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5925312"/>
            <a:ext cx="11430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6.  Adversarial Benchmarking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29107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50" b="0" i="0">
                <a:solidFill>
                  <a:srgbClr val="3D4A63"/>
                </a:solidFill>
                <a:latin typeface="Calibri"/>
              </a:rPr>
              <a:t>Systematic evaluation against published prompt injection test suites and the GAIA benchmark for reproducible security robustness metrics.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7899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Broader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64592"/>
            <a:ext cx="914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 i="0">
                <a:solidFill>
                  <a:srgbClr val="AABBCC"/>
                </a:solidFill>
                <a:latin typeface="Calibri"/>
              </a:rPr>
              <a:t>36 / 37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05840"/>
            <a:ext cx="64008" cy="13716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2608" y="1005840"/>
            <a:ext cx="11667744" cy="438912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078992"/>
            <a:ext cx="11338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Trustworthiness as a First-Class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17904"/>
            <a:ext cx="1133856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The results show that hallucination prevention, adversarial robustness, and uncertainty transparency must be treated as primary architectural requirements in enterprise AI — not optional post-deployment features to be retrofitted.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441448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441448"/>
            <a:ext cx="64008" cy="137160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" y="2441448"/>
            <a:ext cx="11667744" cy="438912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514600"/>
            <a:ext cx="11338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Local LLMs Are Production-Ready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953512"/>
            <a:ext cx="1133856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The system demonstrates that locally-deployed open-source models (Mistral-7B, Llama-3-8B) are sufficient for high-quality enterprise policy QA — challenging the assumption that cloud LLMs are necessary for production-grade accuracy.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877056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877056"/>
            <a:ext cx="64008" cy="13716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" y="3877056"/>
            <a:ext cx="11667744" cy="438912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950208"/>
            <a:ext cx="11338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Hierarchical Representations Matter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389120"/>
            <a:ext cx="1133856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The RAPTOR ablation confirms that flat document chunking is insufficient for complex corpora. Investing in hierarchical document representations provides meaningful retrieval gains, particularly for thematic and comparative queries.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5312664"/>
            <a:ext cx="11731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5312664"/>
            <a:ext cx="64008" cy="1371600"/>
          </a:xfrm>
          <a:prstGeom prst="rect">
            <a:avLst/>
          </a:prstGeom>
          <a:solidFill>
            <a:srgbClr val="B45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5312664"/>
            <a:ext cx="11667744" cy="438912"/>
          </a:xfrm>
          <a:prstGeom prst="rect">
            <a:avLst/>
          </a:prstGeom>
          <a:solidFill>
            <a:srgbClr val="E8E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5385816"/>
            <a:ext cx="11338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Human–AI Complementarity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5824728"/>
            <a:ext cx="11338560" cy="8046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3D4A63"/>
                </a:solidFill>
                <a:latin typeface="Calibri"/>
              </a:rPr>
              <a:t>The uncertainty quantification and citation systems are designed not to replace human judgement but to augment it — giving users the information they need to decide when to trust the AI's answer and when to seek authoritative verification.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879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1274552" cy="2286000"/>
          </a:xfrm>
          <a:prstGeom prst="rect">
            <a:avLst/>
          </a:prstGeom>
          <a:solidFill>
            <a:srgbClr val="1B3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455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5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74552" cy="47548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BBCCEE"/>
                </a:solidFill>
                <a:latin typeface="Calibri"/>
              </a:rPr>
              <a:t>Questions &amp; Discussion Welcome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46120"/>
            <a:ext cx="10360152" cy="36576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2651760" cy="14173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517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08799C"/>
                </a:solidFill>
                <a:latin typeface="Calibri"/>
              </a:rPr>
              <a:t>1.000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206240"/>
            <a:ext cx="21031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27939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727F9A"/>
                </a:solidFill>
                <a:latin typeface="Calibri"/>
              </a:rPr>
              <a:t>Precision@1
(hybrid + rerank)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3429000"/>
            <a:ext cx="2651760" cy="14173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3474720"/>
            <a:ext cx="26517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057A55"/>
                </a:solidFill>
                <a:latin typeface="Calibri"/>
              </a:rPr>
              <a:t>61.3%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11880" y="4206240"/>
            <a:ext cx="21031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427939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727F9A"/>
                </a:solidFill>
                <a:latin typeface="Calibri"/>
              </a:rPr>
              <a:t>Attack-Block Rate
(up from 54.8%)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429000"/>
            <a:ext cx="2651760" cy="14173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3474720"/>
            <a:ext cx="26517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234E8A"/>
                </a:solidFill>
                <a:latin typeface="Calibri"/>
              </a:rPr>
              <a:t>0.66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4206240"/>
            <a:ext cx="21031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27939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727F9A"/>
                </a:solidFill>
                <a:latin typeface="Calibri"/>
              </a:rPr>
              <a:t>Semantic
Faithfulness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3429000"/>
            <a:ext cx="2651760" cy="1417320"/>
          </a:xfrm>
          <a:prstGeom prst="rect">
            <a:avLst/>
          </a:prstGeom>
          <a:solidFill>
            <a:srgbClr val="E8EEFA"/>
          </a:solidFill>
          <a:ln w="12700">
            <a:solidFill>
              <a:srgbClr val="C8D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474720"/>
            <a:ext cx="2651760" cy="7132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 i="0">
                <a:solidFill>
                  <a:srgbClr val="B45909"/>
                </a:solidFill>
                <a:latin typeface="Calibri"/>
              </a:rPr>
              <a:t>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4206240"/>
            <a:ext cx="2103120" cy="18288"/>
          </a:xfrm>
          <a:prstGeom prst="rect">
            <a:avLst/>
          </a:prstGeom>
          <a:solidFill>
            <a:srgbClr val="C8D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4279392"/>
            <a:ext cx="24688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727F9A"/>
                </a:solidFill>
                <a:latin typeface="Calibri"/>
              </a:rPr>
              <a:t>ABSTAIN rate
(was 69.3%)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0" y="5102352"/>
            <a:ext cx="12188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 i="0">
                <a:solidFill>
                  <a:srgbClr val="727F9A"/>
                </a:solidFill>
                <a:latin typeface="Calibri"/>
              </a:rPr>
              <a:t>Devendra  ·  MCA Final Year  ·  Department of Computer Science  ·  [University Name]  ·  July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5486400"/>
            <a:ext cx="12188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1">
                <a:solidFill>
                  <a:srgbClr val="727F9A"/>
                </a:solidFill>
                <a:latin typeface="Calibri"/>
              </a:rPr>
              <a:t>SecureHall-RAG  ·  MCA Major Project 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897880"/>
            <a:ext cx="12188952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AAAABB"/>
                </a:solidFill>
                <a:latin typeface="Calibri"/>
              </a:rPr>
              <a:t>Introduction  ·  Literature Review  ·  System Design  ·  Implementation  ·  Evaluation  ·  Discussion  · 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